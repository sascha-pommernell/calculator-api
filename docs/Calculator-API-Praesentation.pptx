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Rahmung in einem Satz: „Ich zeige heute eine REST-API für Grundrechenarten. Das</a:t>
            </a:r>
          </a:p>
          <a:p>
            <a:r>
              <a:t>Spannende daran ist nicht das Rechnen – sondern alles drumherum: wie ich</a:t>
            </a:r>
          </a:p>
          <a:p>
            <a:r>
              <a:t>sicherstelle, dass sie korrekt ist, und wie das automatisiert bei jedem Push</a:t>
            </a:r>
          </a:p>
          <a:p>
            <a:r>
              <a:t>überprüft wird.“</a:t>
            </a:r>
          </a:p>
          <a:p/>
          <a:p>
            <a:r>
              <a:t>Zeitbudget bei 20 Minuten: Teil 1 (Folien 1–12) ca. 9 Min., Teil 2 (13–21)</a:t>
            </a:r>
          </a:p>
          <a:p>
            <a:r>
              <a:t>ca. 8 Min., Abschluss (22–25) ca. 3 Min. Bei 10 Minuten die Folien 5, 8, 15, 19</a:t>
            </a:r>
          </a:p>
          <a:p>
            <a:r>
              <a:t>und 24 überspringen – der rote Faden bleibt erhalten.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überfliegen. Sagen, dass die Präsentation zwei Teile hat: die API und</a:t>
            </a:r>
          </a:p>
          <a:p>
            <a:r>
              <a:t>wie sie abgesichert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Wichtigste Folie für die Erwartungssteuerung. Hier vorwegnehmen, was das</a:t>
            </a:r>
          </a:p>
          <a:p>
            <a:r>
              <a:t>Publikum sonst denkt („ein Taschenrechner, ernsthaft?“):</a:t>
            </a:r>
          </a:p>
          <a:p/>
          <a:p>
            <a:r>
              <a:t>„Die Fachlichkeit ist absichtlich trivial. Wenn ich hier ein komplexes</a:t>
            </a:r>
          </a:p>
          <a:p>
            <a:r>
              <a:t>Domänenmodell hätte, würde die halbe Zeit für Erklärungen draufgehen. So kann ich</a:t>
            </a:r>
          </a:p>
          <a:p>
            <a:r>
              <a:t>stattdessen zeigen, wie ein Projekt aufgebaut ist, das man auch in zwei Jahren</a:t>
            </a:r>
          </a:p>
          <a:p>
            <a:r>
              <a:t>noch anfassen kann.“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Trennung erzwingt Black-Box-Disziplin. Wären die Tests im gleichen</a:t>
            </a:r>
          </a:p>
          <a:p>
            <a:r>
              <a:t>Projekt, könnte man versehentlich interne Klassen aufrufen und würde dann nicht</a:t>
            </a:r>
          </a:p>
          <a:p>
            <a:r>
              <a:t>mehr die API testen, sondern den Code.</a:t>
            </a:r>
          </a:p>
          <a:p/>
          <a:p>
            <a:r>
              <a:t>Wenn gefragt wird, ob das nicht unnötig kompliziert ist: Ja, für dieses Projekt</a:t>
            </a:r>
          </a:p>
          <a:p>
            <a:r>
              <a:t>ist es etwas Overhead – aber genau so trennen echte Projekte Test- und</a:t>
            </a:r>
          </a:p>
          <a:p>
            <a:r>
              <a:t>Produktivcode, wenn ein separates QA-Team existiert.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vorlesen. Nur zwei Punkte hervorheben:</a:t>
            </a:r>
          </a:p>
          <a:p/>
          <a:p>
            <a:r>
              <a:t>- Playwright ohne Browser – überrascht viele. Playwright kann auch reines HTTP</a:t>
            </a:r>
          </a:p>
          <a:p>
            <a:r>
              <a:t>  (APIRequestContext). Man bekommt Parallelisierung und Tracing gratis.</a:t>
            </a:r>
          </a:p>
          <a:p>
            <a:r>
              <a:t>- Allure – der Grund, warum am Ende ein Bericht existiert, den auch</a:t>
            </a:r>
          </a:p>
          <a:p>
            <a:r>
              <a:t>  Nichtentwickler lesen können.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 Baum entlanggehen. Die Pointe steht in der Karte unten rechts: weil die</a:t>
            </a:r>
          </a:p>
          <a:p>
            <a:r>
              <a:t>Fachlogik nicht am HTTP-Stack hängt, laufen 33 Tests in 46 Millisekunden. Das ist</a:t>
            </a:r>
          </a:p>
          <a:p>
            <a:r>
              <a:t>der praktische Nutzen der Schichtentrennung – nicht die Theorie.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interessante Stelle ist die Entwurfsentscheidung unten links: vier Endpunkte</a:t>
            </a:r>
          </a:p>
          <a:p>
            <a:r>
              <a:t>statt /calculate?op=add. Begründung: der Vertrag wird selbstdokumentierend, jeder</a:t>
            </a:r>
          </a:p>
          <a:p>
            <a:r>
              <a:t>Endpunkt hat eigene OpenAPI-Beschreibung, und es gibt keinen String, den man</a:t>
            </a:r>
          </a:p>
          <a:p>
            <a:r>
              <a:t>falsch schreiben kann.</a:t>
            </a:r>
          </a:p>
          <a:p/>
          <a:p>
            <a:r>
              <a:t>Zweite Pointe: Es sind Listen, keine zwei Operanden – [1,2,3,4] 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kurz. Erklären, warum die Antwort die Eingabe zurückspiegelt: bei asynchronen</a:t>
            </a:r>
          </a:p>
          <a:p>
            <a:r>
              <a:t>oder parallelen Aufrufen kann der Client Anfrage und Ergebnis zuordnen, ohne</a:t>
            </a:r>
          </a:p>
          <a:p>
            <a:r>
              <a:t>selbst mitzuzählen.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langsamer werden – erste Code-Folie. Zwei Dinge betonen:</a:t>
            </a:r>
          </a:p>
          <a:p/>
          <a:p>
            <a:r>
              <a:t>1. Eine Hilfsmethode für alle vier Operationen, die Operation kommt als Delegate</a:t>
            </a:r>
          </a:p>
          <a:p>
            <a:r>
              <a:t>   herein. Kein Copy-Paste x4.</a:t>
            </a:r>
          </a:p>
          <a:p>
            <a:r>
              <a:t>2. Kein try/catch. Bewusst. Das führt zur nächsten Folie über zentrale</a:t>
            </a:r>
          </a:p>
          <a:p>
            <a:r>
              <a:t>   Fehlerbehandlung.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inhaltlich stärkste Code-Folie. Zwei Fallen im Umgang mit double:</a:t>
            </a:r>
          </a:p>
          <a:p/>
          <a:p>
            <a:r>
              <a:t>„In C# wirft die Division 10.0 / 0 keine Exception – sie liefert Infinity. Wer</a:t>
            </a:r>
          </a:p>
          <a:p>
            <a:r>
              <a:t>sich auf DivideByZeroException verlässt, hat einen Bug. Also prüfe ich den Divisor</a:t>
            </a:r>
          </a:p>
          <a:p>
            <a:r>
              <a:t>selbst, vor der Rechnung.“</a:t>
            </a:r>
          </a:p>
          <a:p/>
          <a:p>
            <a:r>
              <a:t>„Und selbst wenn kein Divisor null ist, kann das Ergebnis aus dem darstellbaren</a:t>
            </a:r>
          </a:p>
          <a:p>
            <a:r>
              <a:t>Bereich laufen. EnsureFinite fängt das ab – sonst würde die API Infinity</a:t>
            </a:r>
          </a:p>
          <a:p>
            <a:r>
              <a:t>ausliefern, was in JSON überhaupt kein gültiger Wert ist.“</a:t>
            </a:r>
          </a:p>
          <a:p/>
          <a:p>
            <a:r>
              <a:t>Hier ankündigen: „Diese Prüfung ist nicht aus Weitsicht entstanden, sondern weil</a:t>
            </a:r>
          </a:p>
          <a:p>
            <a:r>
              <a:t>ein Test fehlgeschlagen ist – dazu komme ich auf Folie 22.“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einheitliches Fehlerformat, standardisiert nach RFC 9457.</a:t>
            </a:r>
          </a:p>
          <a:p/>
          <a:p>
            <a:r>
              <a:t>Der Unterschied zwischen den beiden Beispielen ist wichtig:</a:t>
            </a:r>
          </a:p>
          <a:p>
            <a:r>
              <a:t>- links: Validierung greift, bevor der Code läuft → errors-Objekt pro Feld</a:t>
            </a:r>
          </a:p>
          <a:p>
            <a:r>
              <a:t>- rechts: fachlicher Fehler im Service → title + detail</a:t>
            </a:r>
          </a:p>
          <a:p/>
          <a:p>
            <a:r>
              <a:t>Abschließender Satz: „Der Client braucht keine Textanalyse. Und weil die Struktur</a:t>
            </a:r>
          </a:p>
          <a:p>
            <a:r>
              <a:t>Teil des Vertrags ist, wird sie getestet – nicht nur dokumentiert.“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Sechs Karten, jede in einem Satz. Nicht alle gleich lang behandeln – Schwerpunkt:</a:t>
            </a:r>
          </a:p>
          <a:p/>
          <a:p>
            <a:r>
              <a:t>- Rate Limiting: die API würde ohne Limit von einer Schleife lahmgelegt.</a:t>
            </a:r>
          </a:p>
          <a:p>
            <a:r>
              <a:t>- non-root im Container: eine Zeile USER app, aber deutlich kleinere</a:t>
            </a:r>
          </a:p>
          <a:p>
            <a:r>
              <a:t>  Angriffsfläche, wenn der Prozess kompromittiert wird.</a:t>
            </a:r>
          </a:p>
          <a:p>
            <a:r>
              <a:t>- Swagger nur in Development: in Produktion soll die API ihre eigene Landkarte</a:t>
            </a:r>
          </a:p>
          <a:p>
            <a:r>
              <a:t>  nicht ausliefern.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Atempause. Ein Satz: „Damit ist die API beschrieben. Jetzt der eigentliche Kern:</a:t>
            </a:r>
          </a:p>
          <a:p>
            <a:r>
              <a:t>wie ich beweise, dass sie funktioniert.“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Testpyramide erklären: viele schnelle Tests unten, wenige teure oben.</a:t>
            </a:r>
          </a:p>
          <a:p/>
          <a:p>
            <a:r>
              <a:t>Wichtigster Punkt – „kein grün ohne Tests“: „Ein früher Zustand meiner Pipeline</a:t>
            </a:r>
          </a:p>
          <a:p>
            <a:r>
              <a:t>war grün, obwohl gar keine Tests gelaufen waren: die API war nicht erreichbar,</a:t>
            </a:r>
          </a:p>
          <a:p>
            <a:r>
              <a:t>und die Tests haben sich selbst übersprungen. Das ist schlimmer als ein roter</a:t>
            </a:r>
          </a:p>
          <a:p>
            <a:r>
              <a:t>Build, weil man ihm glaubt. Jetzt erzwingt CI=true einen harten Fehlschlag.“</a:t>
            </a:r>
          </a:p>
          <a:p/>
          <a:p>
            <a:r>
              <a:t>Zweiter Punkt: In der CI wird gegen den Docker-Container in</a:t>
            </a:r>
          </a:p>
          <a:p>
            <a:r>
              <a:t>Produktionskonfiguration getestet, nicht gegen dotnet run. Getestet wird das</a:t>
            </a:r>
          </a:p>
          <a:p>
            <a:r>
              <a:t>Artefakt, das ausgeliefert würde.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zeigt sich Methodik statt Bauchgefühl. Ein Beispiel pro Verfahren:</a:t>
            </a:r>
          </a:p>
          <a:p/>
          <a:p>
            <a:r>
              <a:t>- Äquivalenzklassen: alle Eingaben mit &gt;= 2 Zahlen verhalten sich gleich – also</a:t>
            </a:r>
          </a:p>
          <a:p>
            <a:r>
              <a:t>  braucht man nicht 50 davon.</a:t>
            </a:r>
          </a:p>
          <a:p>
            <a:r>
              <a:t>- Grenzwertanalyse: die Fehler sitzen an den Rändern. Deshalb 1 / 2 Zahlen und</a:t>
            </a:r>
          </a:p>
          <a:p>
            <a:r>
              <a:t>  1000 / 1001 Zahlen.</a:t>
            </a:r>
          </a:p>
          <a:p>
            <a:r>
              <a:t>- Error Guessing: 0.1 + 0.2 ist in IEEE-754 nicht exakt 0.3. Klassische</a:t>
            </a:r>
          </a:p>
          <a:p>
            <a:r>
              <a:t>  Stolperfalle, also explizit ein Testfall.</a:t>
            </a:r>
          </a:p>
          <a:p/>
          <a:p>
            <a:r>
              <a:t>Priorisierung: nicht jeder Test ist gleich wichtig. Die Prios stehen als</a:t>
            </a:r>
          </a:p>
          <a:p>
            <a:r>
              <a:t>NUnit-Kategorie im Code, sind also gezielt ausführbar – nicht nur ein Vermerk im</a:t>
            </a:r>
          </a:p>
          <a:p>
            <a:r>
              <a:t>Dokument.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 auf die Verteilung zeigen. Die Aussage steht in der Karte unten:</a:t>
            </a:r>
          </a:p>
          <a:p/>
          <a:p>
            <a:r>
              <a:t>„Weniger als die Hälfte der Testfälle prüft den Erfolgsfall. Der größere Teil</a:t>
            </a:r>
          </a:p>
          <a:p>
            <a:r>
              <a:t>prüft Grenzen, Fehler und Vertragsbruch – und genau dort entstehen in der Praxis</a:t>
            </a:r>
          </a:p>
          <a:p>
            <a:r>
              <a:t>die Probleme.“</a:t>
            </a:r>
          </a:p>
          <a:p/>
          <a:p>
            <a:r>
              <a:t>Bei Nachfrage: Die 9 Validierungsfälle laufen gegen alle vier Endpunkte, die Zahl</a:t>
            </a:r>
          </a:p>
          <a:p>
            <a:r>
              <a:t>ausgeführter Tests ist also deutlich höher als 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zeigen, drei Punkte:</a:t>
            </a:r>
          </a:p>
          <a:p>
            <a:r>
              <a:t>1. Deutsche, sprechende Testnamen – der Bericht liest sich wie eine Spezifikation.</a:t>
            </a:r>
          </a:p>
          <a:p>
            <a:r>
              <a:t>2. [Theory] + [InlineData] – ein neuer Testfall ist eine neue Zeile.</a:t>
            </a:r>
          </a:p>
          <a:p>
            <a:r>
              <a:t>3. [MemberData] prüft eine Regel gegen alle vier Operationen gleichzeitig.</a:t>
            </a:r>
          </a:p>
          <a:p>
            <a:r>
              <a:t>   Verhindert, dass Validierung bei einer Operation vergessen wird.</a:t>
            </a:r>
          </a:p>
          <a:p/>
          <a:p>
            <a:r>
              <a:t>Und die Toleranz bei double: Assert.Equal(0.3, …, 1e-10). Nie exakt vergleichen.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Playwright als HTTP-Client erklären. Dann der Punkt, der methodisch am meisten</a:t>
            </a:r>
          </a:p>
          <a:p>
            <a:r>
              <a:t>wert ist – Traceability:</a:t>
            </a:r>
          </a:p>
          <a:p/>
          <a:p>
            <a:r>
              <a:t>„Jeder Test trägt die Testfall-ID aus dem Konzept im Namen. Ich kann also von</a:t>
            </a:r>
          </a:p>
          <a:p>
            <a:r>
              <a:t>einem roten Test im Bericht rückwärts zum Testkonzept gehen – und umgekehrt für</a:t>
            </a:r>
          </a:p>
          <a:p>
            <a:r>
              <a:t>jeden spezifizierten Fall nachweisen, dass er automatisiert ist.“</a:t>
            </a:r>
          </a:p>
          <a:p/>
          <a:p>
            <a:r>
              <a:t>TC-CON-05 als Beispiel erwähnen: unbekannte Zusatzfelder werden toleriert. Das</a:t>
            </a:r>
          </a:p>
          <a:p>
            <a:r>
              <a:t>ist eine dokumentierte Entscheidung, kein Zufall – und deshalb ein Testfall.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Multi-Stage in einem Satz: gebaut mit dem SDK-Image, ausgeliefert auf dem</a:t>
            </a:r>
          </a:p>
          <a:p>
            <a:r>
              <a:t>schlanken Runtime-Image.</a:t>
            </a:r>
          </a:p>
          <a:p/>
          <a:p>
            <a:r>
              <a:t>Die Layer-Reihenfolge erklären, wenn Zeit ist: erst csproj kopieren, dann</a:t>
            </a:r>
          </a:p>
          <a:p>
            <a:r>
              <a:t>restore, dann der Rest. Solange sich Abhängigkeiten nicht ändern, kommt der</a:t>
            </a:r>
          </a:p>
          <a:p>
            <a:r>
              <a:t>Restore aus dem Cache – spart bei jedem Build Zeit.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sechs Schritte durchgehen. Zwei Details hervorheben, die Erfahrung zeigen:</a:t>
            </a:r>
          </a:p>
          <a:p/>
          <a:p>
            <a:r>
              <a:t>- continue-on-error beim Testschritt: absichtlich. Sonst gibt es bei roten Tests</a:t>
            </a:r>
          </a:p>
          <a:p>
            <a:r>
              <a:t>  keinen Report – und genau dann braucht man ihn. Am Ende schlägt der Workflow</a:t>
            </a:r>
          </a:p>
          <a:p>
            <a:r>
              <a:t>  explizit fehl.</a:t>
            </a:r>
          </a:p>
          <a:p>
            <a:r>
              <a:t>- docker logs bei Fehlern: die API-Logs landen automatisch im Lauf. Man muss</a:t>
            </a:r>
          </a:p>
          <a:p>
            <a:r>
              <a:t>  nicht raten, warum ein Test rot war.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„Ein Testlauf, dessen Ergebnis niemand ansieht, ist verschwendete Rechenzeit.“</a:t>
            </a:r>
          </a:p>
          <a:p/>
          <a:p>
            <a:r>
              <a:t>Drei Ausgabekanäle: Allure-Report auf GitHub Pages (visuell, mit Historie über</a:t>
            </a:r>
          </a:p>
          <a:p>
            <a:r>
              <a:t>20 Läufe), TRX-Check direkt am Commit, Rohdaten als Artefakt.</a:t>
            </a:r>
          </a:p>
          <a:p/>
          <a:p>
            <a:r>
              <a:t>Wenn Internet verfügbar ist: hier den Report live öffnen. Das ist der stärkste</a:t>
            </a:r>
          </a:p>
          <a:p>
            <a:r>
              <a:t>Moment der Präsentation.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Ehrlich sein – diese Folie macht die Präsentation glaubwürdig. Die erste Zeile ist</a:t>
            </a:r>
          </a:p>
          <a:p>
            <a:r>
              <a:t>die wichtigste:</a:t>
            </a:r>
          </a:p>
          <a:p/>
          <a:p>
            <a:r>
              <a:t>„Zwei Testfälle zum Überlauf sind fehlgeschlagen. Das war kein Testfehler,</a:t>
            </a:r>
          </a:p>
          <a:p>
            <a:r>
              <a:t>sondern ein echter Defect: die API hat Infinity ausgeliefert. Der Test hat also</a:t>
            </a:r>
          </a:p>
          <a:p>
            <a:r>
              <a:t>nicht nur geprüft, sondern das Design verbessert – genau dafür schreibt man ihn.“</a:t>
            </a:r>
          </a:p>
          <a:p/>
          <a:p>
            <a:r>
              <a:t>Die letzte Zeile als Abschluss:</a:t>
            </a:r>
          </a:p>
          <a:p/>
          <a:p>
            <a:r>
              <a:t>„Und die unangenehmste Erkenntnis: meine Pipeline war einmal grün, ohne dass</a:t>
            </a:r>
          </a:p>
          <a:p>
            <a:r>
              <a:t>Tests gelaufen sind. Ein grüner Haken muss etwas bedeuten, sonst ist er</a:t>
            </a:r>
          </a:p>
          <a:p>
            <a:r>
              <a:t>schädlich.“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Sechs Punkte, nicht einzeln vorlesen. Die Kernaussage aus der Karte sprechen:</a:t>
            </a:r>
          </a:p>
          <a:p/>
          <a:p>
            <a:r>
              <a:t>„Das Ergebnis dieses Projekts ist nicht die Rechenlogik. Es ist der belegbare,</a:t>
            </a:r>
          </a:p>
          <a:p>
            <a:r>
              <a:t>wiederholbare Weg von der Anforderung zum getesteten, ausgelieferten Artefakt.“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Zeigt, dass die Grenzen des Projekts bekannt sind. Besonders erwähnen:</a:t>
            </a:r>
          </a:p>
          <a:p>
            <a:r>
              <a:t>Rate Limiting ist implementiert, aber nicht unter Last verifiziert – eine bewusst</a:t>
            </a:r>
          </a:p>
          <a:p>
            <a:r>
              <a:t>offene Lücke, nicht ein Versehen.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Danken, zu Fragen einladen. Swagger UI und Allure-Report bereithalten.</a:t>
            </a:r>
          </a:p>
          <a:p/>
          <a:p>
            <a:r>
              <a:t>Vorbereitete Antworten:</a:t>
            </a:r>
          </a:p>
          <a:p/>
          <a:p>
            <a:r>
              <a:t>„Warum double und nicht decimal?“ – double passt zum JSON-Zahlentyp. decimal wäre</a:t>
            </a:r>
          </a:p>
          <a:p>
            <a:r>
              <a:t>für Geldbeträge richtig. Die Konsequenzen (Präzisionstoleranz, Überlaufprüfung)</a:t>
            </a:r>
          </a:p>
          <a:p>
            <a:r>
              <a:t>sind explizit behandelt und getestet.</a:t>
            </a:r>
          </a:p>
          <a:p/>
          <a:p>
            <a:r>
              <a:t>„Warum Exceptions statt Result-Objekte?“ – Exceptions können nicht versehentlich</a:t>
            </a:r>
          </a:p>
          <a:p>
            <a:r>
              <a:t>ignoriert werden; der zentrale IExceptionHandler übersetzt sie an einer Stelle.</a:t>
            </a:r>
          </a:p>
          <a:p/>
          <a:p>
            <a:r>
              <a:t>„Ist Playwright für API-Tests überdimensioniert?“ – Es bringt APIRequestContext,</a:t>
            </a:r>
          </a:p>
          <a:p>
            <a:r>
              <a:t>Parallelisierung und Tracing mit, und käme eine UI hinzu, wäre kein</a:t>
            </a:r>
          </a:p>
          <a:p>
            <a:r>
              <a:t>Werkzeugwechsel nötig.</a:t>
            </a:r>
          </a:p>
          <a:p/>
          <a:p>
            <a:r>
              <a:t>„Wie hoch ist die Code-Coverage?“ – Wird nicht gemessen, steht im Ausblick. Die</a:t>
            </a:r>
          </a:p>
          <a:p>
            <a:r>
              <a:t>Fachlogik ist durch 33 Unit-Tests inkl. aller Ausnahmepfade abgedeckt.</a:t>
            </a:r>
          </a:p>
          <a:p/>
          <a:p>
            <a:r>
              <a:t>„Warum 200 Requests pro Sekunde?“ – Pragmatisch: hoch genug für parallele</a:t>
            </a:r>
          </a:p>
          <a:p>
            <a:r>
              <a:t>Testläufe, niedrig genug um eine Schleife zu bremsen. Ohne Lasttest wäre jede</a:t>
            </a:r>
          </a:p>
          <a:p>
            <a:r>
              <a:t>exaktere Zahl geraten.</a:t>
            </a:r>
          </a:p>
          <a:p/>
          <a:p>
            <a:r>
              <a:t>„Wie lange läuft die Pipeline?“ – Dominiert von den zwei Docker-Builds; die</a:t>
            </a:r>
          </a:p>
          <a:p>
            <a:r>
              <a:t>Unit-Tests sind in Millisekunden fertig und laufen deshalb als erstes.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813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PROJEKTPRÄSENTATION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47088"/>
            <a:ext cx="9144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0B0B0B"/>
                </a:solidFill>
                <a:latin typeface="Segoe UI"/>
              </a:rPr>
              <a:t>Calculator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2928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Eine REST-API für Grundrechenarten – und ein vollständiger Qualitätssicherungsprozess von der Testkonzeption bis zum veröffentlichten Testbericht.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96512"/>
            <a:ext cx="1773936" cy="329184"/>
          </a:xfrm>
          <a:prstGeom prst="roundRect">
            <a:avLst>
              <a:gd name="adj" fmla="val 5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Segoe UI"/>
              </a:rPr>
              <a:t>ASP.NET Core · .NET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4096512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Segoe UI"/>
              </a:rPr>
              <a:t>xUnit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4096512"/>
            <a:ext cx="1517904" cy="329184"/>
          </a:xfrm>
          <a:prstGeom prst="roundRect">
            <a:avLst>
              <a:gd name="adj" fmla="val 5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Segoe UI"/>
              </a:rPr>
              <a:t>NUnit + Playwright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8656" y="4096512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Segoe UI"/>
              </a:rPr>
              <a:t>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7336" y="4096512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Segoe UI"/>
              </a:rPr>
              <a:t>GitHub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4096512"/>
            <a:ext cx="749808" cy="329184"/>
          </a:xfrm>
          <a:prstGeom prst="roundRect">
            <a:avLst>
              <a:gd name="adj" fmla="val 50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366B"/>
                </a:solidFill>
                <a:latin typeface="Segoe UI"/>
              </a:rPr>
              <a:t>Allure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Sascha Pommernell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github.com/Sascha-Pommernell/calculator-api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Calculator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91056"/>
            <a:ext cx="5227167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300" b="1" i="0">
                <a:solidFill>
                  <a:srgbClr val="0B0B0B"/>
                </a:solidFill>
                <a:latin typeface="Segoe UI"/>
              </a:rPr>
              <a:t>Ziel des Projekts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 – warum ein Taschenrechner?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300" b="1" i="0">
                <a:solidFill>
                  <a:srgbClr val="0B0B0B"/>
                </a:solidFill>
                <a:latin typeface="Segoe UI"/>
              </a:rPr>
              <a:t>Architektur &amp; Tech-Stack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300" b="1" i="0">
                <a:solidFill>
                  <a:srgbClr val="0B0B0B"/>
                </a:solidFill>
                <a:latin typeface="Segoe UI"/>
              </a:rPr>
              <a:t>Die API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 – Endpunkte, Verträge, Code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300" b="1" i="0">
                <a:solidFill>
                  <a:srgbClr val="0B0B0B"/>
                </a:solidFill>
                <a:latin typeface="Segoe UI"/>
              </a:rPr>
              <a:t>Robustheit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 – Fehlerbehandlung &amp; Härtung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1591056"/>
            <a:ext cx="5227167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300" b="1" i="0">
                <a:solidFill>
                  <a:srgbClr val="0B0B0B"/>
                </a:solidFill>
                <a:latin typeface="Segoe UI"/>
              </a:rPr>
              <a:t>Qualitätssicherung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 – Testkonzept nach ISTQB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300" b="1" i="0">
                <a:solidFill>
                  <a:srgbClr val="0B0B0B"/>
                </a:solidFill>
                <a:latin typeface="Segoe UI"/>
              </a:rPr>
              <a:t>Testautomatisierung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 – Unit- und API-Tests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300" b="1" i="0">
                <a:solidFill>
                  <a:srgbClr val="0B0B0B"/>
                </a:solidFill>
                <a:latin typeface="Segoe UI"/>
              </a:rPr>
              <a:t>CI/CD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 – Docker &amp; GitHub Actions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300" b="1" i="0">
                <a:solidFill>
                  <a:srgbClr val="0B0B0B"/>
                </a:solidFill>
                <a:latin typeface="Segoe UI"/>
              </a:rPr>
              <a:t>Ergebnis &amp;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Einfache Fachlichkeit, professioneller Prozess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Ziel des Projekts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91056"/>
            <a:ext cx="96313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Die Rechenlogik ist absichtlich </a:t>
            </a:r>
            <a:r>
              <a:rPr sz="1300" b="1" i="0">
                <a:solidFill>
                  <a:srgbClr val="0B0B0B"/>
                </a:solidFill>
                <a:latin typeface="Segoe UI"/>
              </a:rPr>
              <a:t>trivial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 – dadurch liegt der Fokus vollständig auf dem, was in echten Projekten den Unterschied macht: Architektur, Verträge, Fehlerbehandlung, Testkonzeption, Automatisierung und Nachvollziehbarkeit.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15184"/>
            <a:ext cx="3429914" cy="1691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70632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Was gebaut wurde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81528"/>
            <a:ext cx="3027578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Eine REST-API für Addition, Subtraktion, Multiplikation und Division mit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zwei oder mehr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Zahlen.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0890" y="2615184"/>
            <a:ext cx="3429914" cy="1691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2770632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Was daran interessant 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3081528"/>
            <a:ext cx="3027578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Jede Zeile Produktivcode ist durch ein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dokumentiertes Testkonzept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und eine automatisierte Pipeline abgesichert.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0260" y="2615184"/>
            <a:ext cx="3429914" cy="1691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1428" y="2770632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Was daran gelernt wurde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1428" y="3081528"/>
            <a:ext cx="3027578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Testentwurf nach ISTQB, Containerisierung, CI/CD und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Reporting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als durchgängige Kette.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SYSTEMÜBERBLICK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Zwei Repositories, eine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Architektur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5227167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32004" cy="1764791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4650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calculator-api  ·  Produktivcode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057400"/>
            <a:ext cx="4824831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ASP.NET-Core-Projekt (4 Endpunkte + Health)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Unit-Tests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Calculator.Api.Tests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(xUnit)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Dockerfile · CI-Workflow · Testkonzept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48456"/>
            <a:ext cx="5227167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32004" cy="1764791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0390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calculator-api-tests-c  ·  Testautomatisierung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14800"/>
            <a:ext cx="4824831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API-Tests mit NUnit 4 + Playwright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Allure- und TRX-Reporting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Eigenes Docker-Image, eigene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1591056"/>
            <a:ext cx="522716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Warum getrennt?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1920240"/>
            <a:ext cx="5227167" cy="4288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Black-Box-Disziplin.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Die Tests kennen nur den HTTP-Vertrag – keine internen Klassen, kein Zugriff auf die Implementierung.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Unabhängige Lebenszyklen.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Testcode kann weiterentwickelt werden, ohne die API zu berühren – und umgekehrt.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Beidseitiges Gate.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Jedes Repo hat einen Workflow, der jeweils das andere auscheckt: Änderungen an der API und am Testcode werden abgesichert.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TECHNOLOGIE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Tech-Stack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Architektur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5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591056"/>
          <a:ext cx="10728654" cy="379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0304"/>
                <a:gridCol w="3004023"/>
                <a:gridCol w="5364327"/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BEREICH</a:t>
                      </a:r>
                    </a:p>
                  </a:txBody>
                  <a:tcPr marL="0" marR="164592" marT="18288" marB="9144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TECHNOLOGIE</a:t>
                      </a:r>
                    </a:p>
                  </a:txBody>
                  <a:tcPr marL="0" marR="164592" marT="18288" marB="9144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BEGRÜNDUNG</a:t>
                      </a:r>
                    </a:p>
                  </a:txBody>
                  <a:tcPr marL="0" marR="164592" marT="18288" marB="91440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Laufzeit / Framework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.NET 10 · ASP.NET Core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Aktuelle LTS-Generation, minimaler Boilerplate, integriertes DI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API-Dokumentation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OpenAPI + Swagger UI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Vertrag ist maschinenlesbar und im Browser ausprobierbar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Unit-Tests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xUnit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Datengetriebene 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[Theory]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-Tests für die Rechenlogik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API-Tests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NUnit 4 + Playwright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APIRequestContext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 – HTTP-Tests ohne Browser, parallelisierbar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Reporting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Allure + TRX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Visueller Bericht mit Historie, dazu ein Check am Commit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Betrieb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Docker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 (Multi-Stage)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Identische Umgebung lokal und in der CI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CI/CD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GitHub Actions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Build, Test und Veröffentlichung bei jedem Push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AUFBAU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Schichten &amp; Verantwortlichkeiten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Architektur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6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5623560" cy="3020263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28216"/>
            <a:ext cx="5312664" cy="274594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Calculator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Api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/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├── 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Controllers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/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│   └── 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CalculatorController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   </a:t>
            </a:r>
            <a:r>
              <a:rPr sz="1050" b="0" i="1">
                <a:solidFill>
                  <a:srgbClr val="898781"/>
                </a:solidFill>
                <a:latin typeface="Consolas"/>
              </a:rPr>
              <a:t>// HTTP-Schicht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├── 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Services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/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│   ├── 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ICalculatorService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     </a:t>
            </a:r>
            <a:r>
              <a:rPr sz="1050" b="0" i="1">
                <a:solidFill>
                  <a:srgbClr val="898781"/>
                </a:solidFill>
                <a:latin typeface="Consolas"/>
              </a:rPr>
              <a:t>// Vertrag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│   └── </a:t>
            </a:r>
            <a:r>
              <a:rPr sz="1050" b="0" i="0">
                <a:solidFill>
                  <a:srgbClr val="4A3AA7"/>
                </a:solidFill>
                <a:latin typeface="Consolas"/>
              </a:rPr>
              <a:t>CalculatorService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      </a:t>
            </a:r>
            <a:r>
              <a:rPr sz="1050" b="0" i="1">
                <a:solidFill>
                  <a:srgbClr val="898781"/>
                </a:solidFill>
                <a:latin typeface="Consolas"/>
              </a:rPr>
              <a:t>// Fachlogik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├── 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Models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/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│   ├── </a:t>
            </a:r>
            <a:r>
              <a:rPr sz="1050" b="0" i="0">
                <a:solidFill>
                  <a:srgbClr val="4A3AA7"/>
                </a:solidFill>
                <a:latin typeface="Consolas"/>
              </a:rPr>
              <a:t>CalculationRequest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     </a:t>
            </a:r>
            <a:r>
              <a:rPr sz="1050" b="0" i="1">
                <a:solidFill>
                  <a:srgbClr val="898781"/>
                </a:solidFill>
                <a:latin typeface="Consolas"/>
              </a:rPr>
              <a:t>// + Validierung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│   ├── </a:t>
            </a:r>
            <a:r>
              <a:rPr sz="1050" b="0" i="0">
                <a:solidFill>
                  <a:srgbClr val="4A3AA7"/>
                </a:solidFill>
                <a:latin typeface="Consolas"/>
              </a:rPr>
              <a:t>CalculationResponse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│   └── </a:t>
            </a:r>
            <a:r>
              <a:rPr sz="1050" b="0" i="0">
                <a:solidFill>
                  <a:srgbClr val="4A3AA7"/>
                </a:solidFill>
                <a:latin typeface="Consolas"/>
              </a:rPr>
              <a:t>OperationNames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├── 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Infrastructure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/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│   └── 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CalculationExceptionHandler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Consolas"/>
              </a:rPr>
              <a:t>└── 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Program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cs</a:t>
            </a:r>
            <a:r>
              <a:rPr sz="1050" b="0" i="0">
                <a:solidFill>
                  <a:srgbClr val="0B0B0B"/>
                </a:solidFill>
                <a:latin typeface="Consolas"/>
              </a:rPr>
              <a:t>                    </a:t>
            </a:r>
            <a:r>
              <a:rPr sz="1050" b="0" i="1">
                <a:solidFill>
                  <a:srgbClr val="898781"/>
                </a:solidFill>
                <a:latin typeface="Consolas"/>
              </a:rPr>
              <a:t>// Komposition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591056"/>
            <a:ext cx="483077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3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Controller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nimmt HTTP an und gibt HTTP zurück – keine Rechenlogik, keine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try/catch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-Blöcke.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3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Service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enthält die vollständige Fachlogik und ist damit isoliert und ohne Webserver testbar.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3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Interface + Dependency Injection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– der Controller hängt an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ICalculatorService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, nicht an der Implementierung.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3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Infrastructure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übersetzt Ausnahmen zentral in einheitliche Fehlerantworten.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379976"/>
            <a:ext cx="4830775" cy="7772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4535424"/>
            <a:ext cx="44284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0B0B"/>
                </a:solidFill>
                <a:latin typeface="Segoe UI"/>
              </a:rPr>
              <a:t>Konsequenz:</a:t>
            </a:r>
            <a:r>
              <a:rPr sz="1100" b="0" i="0">
                <a:solidFill>
                  <a:srgbClr val="52514E"/>
                </a:solidFill>
                <a:latin typeface="Segoe UI"/>
              </a:rPr>
              <a:t> Die Fachlogik wird von 33 Unit-Tests in Millisekunden geprüft – ganz ohne HTTP.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DIE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Endpunkte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Die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7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591056"/>
          <a:ext cx="10728654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3169"/>
                <a:gridCol w="1180152"/>
                <a:gridCol w="6115333"/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ENDPUNKT</a:t>
                      </a:r>
                    </a:p>
                  </a:txBody>
                  <a:tcPr marL="0" marR="164592" marT="18288" marB="9144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METHODE</a:t>
                      </a:r>
                    </a:p>
                  </a:txBody>
                  <a:tcPr marL="0" marR="164592" marT="18288" marB="9144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VERHALTEN</a:t>
                      </a:r>
                    </a:p>
                  </a:txBody>
                  <a:tcPr marL="0" marR="164592" marT="18288" marB="91440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/api/calculator/add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Addiert alle übergebenen Zahlen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/api/calculator/subtract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Subtrahiert alle weiteren Zahlen von der ersten (links-assoziativ)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/api/calculator/multiply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Multipliziert alle übergebenen Zahlen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/api/calculator/divide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Dividiert die erste Zahl nacheinander durch alle weiteren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/health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Erreichbarkeits-Probe für Container, CI und Tests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922776"/>
            <a:ext cx="5227167" cy="141732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07822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Bewusste Entwurfsentscheidung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389120"/>
            <a:ext cx="482483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Ein Endpunkt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pro Operation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statt eines generischen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/calculate?op=…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: der Vertrag ist selbsterklärend, in OpenAPI einzeln dokumentiert und ohne Magic Strings testbar.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922776"/>
            <a:ext cx="5227167" cy="141732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4175" y="407822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Beliebig viele Operanden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4389120"/>
            <a:ext cx="482483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Alle Endpunkte arbeiten auf einer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Liste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– nicht auf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a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und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b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.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[1,2,3,4]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ist genauso gültig wie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[1,2]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DIE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Der Vertrag: Request &amp;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Die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52271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POST /api/calculator/divide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5227167" cy="998524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4916271" cy="7242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1200" b="0" i="0">
                <a:solidFill>
                  <a:srgbClr val="1BAF7A"/>
                </a:solidFill>
                <a:latin typeface="Consolas"/>
              </a:rPr>
              <a:t>"numbers"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: [</a:t>
            </a:r>
            <a:r>
              <a:rPr sz="1200" b="0" i="0">
                <a:solidFill>
                  <a:srgbClr val="4A3AA7"/>
                </a:solidFill>
                <a:latin typeface="Consolas"/>
              </a:rPr>
              <a:t>10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1200" b="0" i="0">
                <a:solidFill>
                  <a:srgbClr val="4A3AA7"/>
                </a:solidFill>
                <a:latin typeface="Consolas"/>
              </a:rPr>
              <a:t>5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1200" b="0" i="0">
                <a:solidFill>
                  <a:srgbClr val="4A3AA7"/>
                </a:solidFill>
                <a:latin typeface="Consolas"/>
              </a:rPr>
              <a:t>2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52271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Mindestens </a:t>
            </a:r>
            <a:r>
              <a:rPr sz="1200" b="1" i="0">
                <a:solidFill>
                  <a:srgbClr val="0B0B0B"/>
                </a:solidFill>
                <a:latin typeface="Segoe UI"/>
              </a:rPr>
              <a:t>2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, höchstens </a:t>
            </a:r>
            <a:r>
              <a:rPr sz="1200" b="1" i="0">
                <a:solidFill>
                  <a:srgbClr val="0B0B0B"/>
                </a:solidFill>
                <a:latin typeface="Segoe UI"/>
              </a:rPr>
              <a:t>1000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Zahlen. </a:t>
            </a:r>
            <a:r>
              <a:rPr sz="1128" b="0" i="0">
                <a:solidFill>
                  <a:srgbClr val="0B0B0B"/>
                </a:solidFill>
                <a:latin typeface="Consolas"/>
              </a:rPr>
              <a:t>Content-Type: application/json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1609344"/>
            <a:ext cx="52271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200 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847088"/>
            <a:ext cx="5227167" cy="1481328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984248"/>
            <a:ext cx="4916271" cy="12070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1200" b="0" i="0">
                <a:solidFill>
                  <a:srgbClr val="1BAF7A"/>
                </a:solidFill>
                <a:latin typeface="Consolas"/>
              </a:rPr>
              <a:t>"operation"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: </a:t>
            </a:r>
            <a:r>
              <a:rPr sz="1200" b="0" i="0">
                <a:solidFill>
                  <a:srgbClr val="1BAF7A"/>
                </a:solidFill>
                <a:latin typeface="Consolas"/>
              </a:rPr>
              <a:t>"Division"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1200" b="0" i="0">
                <a:solidFill>
                  <a:srgbClr val="1BAF7A"/>
                </a:solidFill>
                <a:latin typeface="Consolas"/>
              </a:rPr>
              <a:t>"numbers"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: [</a:t>
            </a:r>
            <a:r>
              <a:rPr sz="1200" b="0" i="0">
                <a:solidFill>
                  <a:srgbClr val="4A3AA7"/>
                </a:solidFill>
                <a:latin typeface="Consolas"/>
              </a:rPr>
              <a:t>10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1200" b="0" i="0">
                <a:solidFill>
                  <a:srgbClr val="4A3AA7"/>
                </a:solidFill>
                <a:latin typeface="Consolas"/>
              </a:rPr>
              <a:t>5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1200" b="0" i="0">
                <a:solidFill>
                  <a:srgbClr val="4A3AA7"/>
                </a:solidFill>
                <a:latin typeface="Consolas"/>
              </a:rPr>
              <a:t>2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],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1200" b="0" i="0">
                <a:solidFill>
                  <a:srgbClr val="1BAF7A"/>
                </a:solidFill>
                <a:latin typeface="Consolas"/>
              </a:rPr>
              <a:t>"result"</a:t>
            </a:r>
            <a:r>
              <a:rPr sz="1200" b="0" i="0">
                <a:solidFill>
                  <a:srgbClr val="0B0B0B"/>
                </a:solidFill>
                <a:latin typeface="Consolas"/>
              </a:rPr>
              <a:t>: </a:t>
            </a:r>
            <a:r>
              <a:rPr sz="1200" b="0" i="0">
                <a:solidFill>
                  <a:srgbClr val="4A3AA7"/>
                </a:solidFill>
                <a:latin typeface="Consolas"/>
              </a:rPr>
              <a:t>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557015"/>
            <a:ext cx="522716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Die Antwort </a:t>
            </a:r>
            <a:r>
              <a:rPr sz="1200" b="1" i="0">
                <a:solidFill>
                  <a:srgbClr val="0B0B0B"/>
                </a:solidFill>
                <a:latin typeface="Segoe UI"/>
              </a:rPr>
              <a:t>spiegelt die Eingabe zurück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– der Aufrufer kann Anfrage und Ergebnis eindeutig zuordnen, auch bei parallelen Requests.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Der Controller bleibt dünn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Die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Controllers/CalculatorController.cs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5943600" cy="3714292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5632704" cy="34399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HttpPost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"divide"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ProducesResponseType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&lt;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CalculationResponse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&gt;(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Status200OK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ProducesResponseType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&lt;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ProblemDetails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&gt;(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Status400BadRequest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ActionResult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&lt;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CalculationResponse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&gt;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Divide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FromBody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]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CalculationRequest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request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=&gt;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Calculate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OperationNames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Division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        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request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        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_calculatorService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Divide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);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98781"/>
                </a:solidFill>
                <a:latin typeface="Consolas"/>
              </a:rPr>
              <a:t>// Fachliche Ausnahmen behandelt zentral der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98781"/>
                </a:solidFill>
                <a:latin typeface="Consolas"/>
              </a:rPr>
              <a:t>// CalculationExceptionHandler.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private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ActionResult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&lt;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CalculationResponse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&gt;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Calculate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string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operation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CalculationRequest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request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Func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&lt;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IReadOnlyList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&lt;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&gt;,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&gt;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calculation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=&gt;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Ok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new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CalculationResponse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  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operation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request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  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calculation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request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47088"/>
            <a:ext cx="4510735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Eine gemeinsame Hilfsmethode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für alle vier Operationen – die Operation wird als Delegate übergeben. Kein vierfach kopierter Code.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Kein </a:t>
            </a:r>
            <a:r>
              <a:rPr sz="1080" b="1" i="0">
                <a:solidFill>
                  <a:srgbClr val="0B0B0B"/>
                </a:solidFill>
                <a:latin typeface="Consolas"/>
              </a:rPr>
              <a:t>try/catch</a:t>
            </a:r>
            <a:r>
              <a:rPr sz="1150" b="1" i="0">
                <a:solidFill>
                  <a:srgbClr val="0B0B0B"/>
                </a:solidFill>
                <a:latin typeface="Segoe UI"/>
              </a:rPr>
              <a:t>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Fehler werden bewusst nach oben durchgelassen und an genau einer Stelle behandelt.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ProducesResponseType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macht die möglichen Antworten Teil des OpenAPI-Dokuments – der Vertrag steht im Code, nicht in einer separaten Datei.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Kein Zustand.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Der Service ist als Singleton registriert und vollständig zustandslos – dadurch sind parallele Requests und parallele Tests unkritisch.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Die Fachlogik im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Die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10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Services/CalculatorService.cs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5943600" cy="4257446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5632704" cy="398312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A78D6"/>
                </a:solidFill>
                <a:latin typeface="Consolas"/>
              </a:rPr>
              <a:t>public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Divide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4A3AA7"/>
                </a:solidFill>
                <a:latin typeface="Consolas"/>
              </a:rPr>
              <a:t>IReadOnlyList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&lt;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&gt;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ValidateInput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);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if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(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Skip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4A3AA7"/>
                </a:solidFill>
                <a:latin typeface="Consolas"/>
              </a:rPr>
              <a:t>1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).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Any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=&gt;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== </a:t>
            </a:r>
            <a:r>
              <a:rPr sz="900" b="0" i="0">
                <a:solidFill>
                  <a:srgbClr val="4A3AA7"/>
                </a:solidFill>
                <a:latin typeface="Consolas"/>
              </a:rPr>
              <a:t>0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throw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new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4A3AA7"/>
                </a:solidFill>
                <a:latin typeface="Consolas"/>
              </a:rPr>
              <a:t>DivideByZeroException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        </a:t>
            </a:r>
            <a:r>
              <a:rPr sz="900" b="0" i="0">
                <a:solidFill>
                  <a:srgbClr val="1BAF7A"/>
                </a:solidFill>
                <a:latin typeface="Consolas"/>
              </a:rPr>
              <a:t>"Division durch null ist nicht erlaubt."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);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}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EnsureFinite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Skip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4A3AA7"/>
                </a:solidFill>
                <a:latin typeface="Consolas"/>
              </a:rPr>
              <a:t>1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    .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Aggregate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00" b="0" i="0">
                <a:solidFill>
                  <a:srgbClr val="4A3AA7"/>
                </a:solidFill>
                <a:latin typeface="Consolas"/>
              </a:rPr>
              <a:t>0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], (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r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 =&gt;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r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/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n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));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}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A78D6"/>
                </a:solidFill>
                <a:latin typeface="Consolas"/>
              </a:rPr>
              <a:t>private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static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EnsureFinite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result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if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(!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IsFinite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result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))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   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throw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new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4A3AA7"/>
                </a:solidFill>
                <a:latin typeface="Consolas"/>
              </a:rPr>
              <a:t>OverflowException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(…);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}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    </a:t>
            </a:r>
            <a:r>
              <a:rPr sz="900" b="0" i="0">
                <a:solidFill>
                  <a:srgbClr val="2A78D6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result</a:t>
            </a:r>
            <a:r>
              <a:rPr sz="900" b="0" i="0">
                <a:solidFill>
                  <a:srgbClr val="0B0B0B"/>
                </a:solidFill>
                <a:latin typeface="Consolas"/>
              </a:rPr>
              <a:t>;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47088"/>
            <a:ext cx="4510735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Divisor-Prüfung vor der Rechnung.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C# liefert bei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double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-Division durch 0 kein Exception, sondern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Infinity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– der Fehler muss aktiv erkannt werden.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EnsureFinite</a:t>
            </a:r>
            <a:r>
              <a:rPr sz="1150" b="1" i="0">
                <a:solidFill>
                  <a:srgbClr val="0B0B0B"/>
                </a:solidFill>
                <a:latin typeface="Segoe UI"/>
              </a:rPr>
              <a:t> als Torwächter.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Jede Operation prüft ihr Ergebnis auf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IsFinite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. Damit kann die API nie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Infinity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oder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NaN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ausliefern – Werte, die in JSON ohnehin nicht gültig sind.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Herkunft dieser Prüfung: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Sie entstand als Reaktion auf einen Testfall, der ursprünglich fehlschlug – siehe Folie „Herausforderungen“.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Fehler als Ausnahmen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statt als Rückgabewert-Codes: der Aufrufer kann sie nicht versehentlich ignorieren.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ROBUSTHEIT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Einheitliche Fehlerantworten nach RFC 9457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Robustheit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91056"/>
            <a:ext cx="99056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Ein zentraler </a:t>
            </a:r>
            <a:r>
              <a:rPr sz="1128" b="0" i="0">
                <a:solidFill>
                  <a:srgbClr val="0B0B0B"/>
                </a:solidFill>
                <a:latin typeface="Consolas"/>
              </a:rPr>
              <a:t>IExceptionHandler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übersetzt fachliche Ausnahmen in </a:t>
            </a:r>
            <a:r>
              <a:rPr sz="1200" b="1" i="0">
                <a:solidFill>
                  <a:srgbClr val="0B0B0B"/>
                </a:solidFill>
                <a:latin typeface="Segoe UI"/>
              </a:rPr>
              <a:t>ProblemDetails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. Jede Fehlerantwort der API – auch 404, 405, 415 und unerwartete 500er – hat damit dasselbe, maschinenlesbare Format.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04872"/>
            <a:ext cx="52271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Eingabevalidierung → ValidationProblemDetails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5227167" cy="1994306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79775"/>
            <a:ext cx="4916271" cy="171998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"title"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 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One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more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validation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   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errors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occurred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.",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"status"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400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"errors"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 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"Numbers"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 ["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Es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müssen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mindestens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       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zwei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Zahlen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…"]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}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404872"/>
            <a:ext cx="522716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Fachlicher Fehler → ProblemDetails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642615"/>
            <a:ext cx="5227167" cy="1420977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2779775"/>
            <a:ext cx="4916271" cy="1146657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{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"title"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"Ungültige Berechnung"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"status"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400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"detail"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 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Division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durch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null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ist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    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nicht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erlaubt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."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5"/>
            <a:ext cx="10728655" cy="82296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992623"/>
            <a:ext cx="10326319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Warum das wichtig ist: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Der Client braucht keine Fallunterscheidung nach Text. Die Struktur ist Teil des Vertrags – und wird von den Vertragstests geprüft, nicht nur dokumentiert.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ROBUSTHEIT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Härtung &amp; Betriebsreife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Robustheit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12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Eingabegrenzen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Deklarative Validierung am Model: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[MinLength(2)]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und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[MaxLength(1000)]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. Die Obergrenze verhindert, dass ein einzelner Request beliebig viel Arbeit erzeugt.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0890" y="1591056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Zahlbereich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2057400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0B0B0B"/>
                </a:solidFill>
                <a:latin typeface="Consolas"/>
              </a:rPr>
              <a:t>double.IsFinite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auf jedes Ergebnis. Arithmetischer Überlauf wird als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400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abgelehnt statt als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Infinity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ausgeliefert.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0260" y="1591056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142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1428" y="2057400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200 Requests/Sekunde pro Client-IP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über einen Fixed-Window-Limiter; darüber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429 Too Many Requests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75887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31335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Health-Endpoint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142231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0B0B0B"/>
                </a:solidFill>
                <a:latin typeface="Consolas"/>
              </a:rPr>
              <a:t>GET /health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dient dem Docker-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HEALTHCHECK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, der CI-Wartelogik und der Entry-Prüfung der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0890" y="3675887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2058" y="3831335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Container-Sicherheit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2058" y="4142231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Das Image läuft als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non-root-User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app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– kein Root-Prozess im Container.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0260" y="3675887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1428" y="3831335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Swagger nur in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1428" y="4142231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OpenAPI-Dokument und Swagger UI sind an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IsDevelopment()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gebunden und in Produktion nicht exponiert.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TEIL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9144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B0B0B"/>
                </a:solidFill>
                <a:latin typeface="Segoe UI"/>
              </a:rPr>
              <a:t>Qualitätssicherung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Vom dokumentierten Testkonzept über automatisierte Tests bis zum veröffentlichten Bericht.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TESTKONZEPT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Zwei Testebenen mit klarer Aufgabenteilung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Qualitätssicherung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5227167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32004" cy="1764791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4650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API-Tests  ·  Black 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057400"/>
            <a:ext cx="4824831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NUnit 4 + Playwright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gegen die laufende Anwendung im Container. Getestet wird ausschließlich über HTTP.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Prüft: Statuscodes, Response-Struktur, Header, Routen, HTTP-Methoden – also den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Vertrag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48456"/>
            <a:ext cx="5227167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32004" cy="1764791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0390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Unit-Tests  ·  White 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14800"/>
            <a:ext cx="4824831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xUnit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direkt gegen den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CalculatorService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, ohne Webserver. Laufzeit: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46 ms für 33 Tests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Prüft: Rechenergebnisse, Assoziativität, Ausnahmefälle – also die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Fachlogik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1591056"/>
            <a:ext cx="5227167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Testpyramide.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Viele schnelle Unit-Tests unten, wenige aussagekräftige End-to-End-Tests oben. In der CI laufen die Unit-Tests zuerst und dienen als schnelles Quality Gate.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Produktionsnahe Umgebung.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Die API wird in der CI nicht per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dotnet run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gestartet, sondern als Docker-Container mit </a:t>
            </a:r>
            <a:r>
              <a:rPr sz="1150" b="1" i="0">
                <a:solidFill>
                  <a:srgbClr val="0B0B0B"/>
                </a:solidFill>
                <a:latin typeface="Segoe UI"/>
              </a:rPr>
              <a:t>Produktionskonfiguration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– getestet wird das Artefakt, das ausgeliefert würde.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Kein „grün ohne Tests“.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Ist die API nicht erreichbar, schlagen die Tests in der CI (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CI=true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) hart fehl; lokal werden sie als Inconclusive markiert.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TESTKONZEPT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Testfälle systematisch abgeleitet – nicht geraten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Qualitätssicherung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63624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Black-Box-Testentwurfsverfahren nach ISTQB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828800"/>
          <a:ext cx="10728654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9450"/>
                <a:gridCol w="7939204"/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VERFAHREN</a:t>
                      </a:r>
                    </a:p>
                  </a:txBody>
                  <a:tcPr marL="0" marR="164592" marT="18288" marB="9144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ANWENDUNG IM PROJEKT</a:t>
                      </a:r>
                    </a:p>
                  </a:txBody>
                  <a:tcPr marL="0" marR="164592" marT="18288" marB="91440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Äquivalenzklassen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Gültig (≥ 2 Zahlen; positiv / negativ / dezimal) vs. ungültig (&lt; 2, &gt; 1000, 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null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, falscher Typ, ungültiges JSON)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Grenzwertanalyse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0 / 1 / 2 Zahlen · 1000 / 1001 Zahlen · Divisor 0 · Zahlbereichsgrenzen 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1e308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, 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1e-308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Vertragsprüfung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Response-Felder, Statuscodes, Content-Type, unbekannte Routen, falsche HTTP-Methode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Error Guessing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Gleitkomma-Präzision (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0.1 + 0.2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), Überlauf-Serialisierung, unbekannte Zusatzfelder im Body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078224"/>
            <a:ext cx="5227167" cy="141732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33672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Risikobasierte Priorisierung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544568"/>
            <a:ext cx="482483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Prio Hoch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– Happy Path, Division durch null, Eingabevalidierung: Kernfunktion, betrifft alle Nutzer.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Prio Mittel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– Gleitkomma-Randfälle, API-Vertrag.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4078224"/>
            <a:ext cx="5227167" cy="141732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4175" y="4233672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Im Code hinterlegt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4544568"/>
            <a:ext cx="482483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Als NUnit-Kategorie und Allure-Severity, dadurch gezielt ausführbar: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4175" y="4974336"/>
            <a:ext cx="4824831" cy="465429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7055" y="5111496"/>
            <a:ext cx="4513935" cy="19110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dotnet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test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--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filter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"TestCategory=Prio-Hoch"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TESTUMFANG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36 spezifizierte API-Testfälle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Qualitätssicherung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16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2423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Happy Path (4.1)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04772"/>
            <a:ext cx="5715000" cy="2240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0848" y="1618488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0B0B"/>
                </a:solidFill>
                <a:latin typeface="Segoe U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47672"/>
            <a:ext cx="2423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Eingabevalidierung (4.4)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933956"/>
            <a:ext cx="3673928" cy="2240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94767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0B0B"/>
                </a:solidFill>
                <a:latin typeface="Segoe U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76856"/>
            <a:ext cx="2423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Gleitkomma-Randfälle (4.2)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263140"/>
            <a:ext cx="2449285" cy="2240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2276856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0B0B"/>
                </a:solidFill>
                <a:latin typeface="Segoe U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06040"/>
            <a:ext cx="2423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API-Vertrag / Robustheit (4.5)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592324"/>
            <a:ext cx="2041071" cy="2240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2606040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0B0B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35223"/>
            <a:ext cx="242316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Division durch null (4.3)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921508"/>
            <a:ext cx="816428" cy="2240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2935223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0B0B"/>
                </a:solidFill>
                <a:latin typeface="Segoe UI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01568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Testfall-IDs je Gruppe im Testkonzept · die Validierungsfälle werden zusätzlich gegen </a:t>
            </a:r>
            <a:r>
              <a:rPr sz="950" b="1" i="0">
                <a:solidFill>
                  <a:srgbClr val="0B0B0B"/>
                </a:solidFill>
                <a:latin typeface="Segoe UI"/>
              </a:rPr>
              <a:t>alle vier Endpunkte</a:t>
            </a:r>
            <a:r>
              <a:rPr sz="950" b="0" i="0">
                <a:solidFill>
                  <a:srgbClr val="898781"/>
                </a:solidFill>
                <a:latin typeface="Segoe UI"/>
              </a:rPr>
              <a:t> ausgeführt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12463"/>
            <a:ext cx="2531287" cy="1298448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858768"/>
            <a:ext cx="21289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Segoe UI"/>
              </a:rPr>
              <a:t>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43983"/>
            <a:ext cx="2128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Unit-Tests (xUnit)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46 ms Laufzeit, alle grün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3975" y="3712463"/>
            <a:ext cx="2531287" cy="1298448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5143" y="3858768"/>
            <a:ext cx="21289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Segoe UI"/>
              </a:rPr>
              <a:t>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5143" y="4443983"/>
            <a:ext cx="2128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Spezifizierte API-Testfälle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TC-IDs im Testkonzept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6431" y="3712463"/>
            <a:ext cx="2531287" cy="1298448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7599" y="3858768"/>
            <a:ext cx="21289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7599" y="4443983"/>
            <a:ext cx="2128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Getestete Endpunkte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4 Operationen + Health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8887" y="3712463"/>
            <a:ext cx="2531287" cy="1298448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0055" y="3858768"/>
            <a:ext cx="21289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Segoe U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0055" y="4443983"/>
            <a:ext cx="2128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Offene Defects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Stand: aktueller Lauf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193792"/>
            <a:ext cx="10728655" cy="658368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349240"/>
            <a:ext cx="10326319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Auffällig ist die Verteilung: </a:t>
            </a:r>
            <a:r>
              <a:rPr sz="1150" b="1" i="0">
                <a:solidFill>
                  <a:srgbClr val="0B0B0B"/>
                </a:solidFill>
                <a:latin typeface="Segoe UI"/>
              </a:rPr>
              <a:t>weniger als die Hälfte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der Testfälle prüft den Erfolgsfall. Der größere Teil prüft Grenzen, Fehler und Vertragsbruch – dort entstehen in der Praxis die Probleme.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TESTAUTOMATISIERUNG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Unit-Tests: datengetrieben statt kopiert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Testautomatisierung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Calculator.Api.Tests/CalculatorServiceTests.cs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6035040" cy="4096511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5724144" cy="38221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Theory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InlineData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new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[] {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4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},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2.5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InlineData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new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[] {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100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5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2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},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InlineData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new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[] { -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9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3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}, -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3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InlineData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new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[] {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5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},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void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Divide_rechnet_verkettet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[]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double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expected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=&gt;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Assert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Equal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expected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_service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Divide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numbers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));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98781"/>
                </a:solidFill>
                <a:latin typeface="Consolas"/>
              </a:rPr>
              <a:t>// Gleitkomma niemals exakt vergleichen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Fact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void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Add_beruecksichtigt_Gleitkomma_Toleranz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=&gt;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Assert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Equal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0.3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_service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Add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0.1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0.2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]),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1e-10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);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98781"/>
                </a:solidFill>
                <a:latin typeface="Consolas"/>
              </a:rPr>
              <a:t>// Dieselbe Regel für alle vier Operationen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Theory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MemberData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nameof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Operationen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))]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public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void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Operation_wirft_bei_leerem_Array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string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op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=&gt;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Assert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Throws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&lt;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ArgumentException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&gt;(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         () =&gt;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Invoke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(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op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[]));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47088"/>
            <a:ext cx="4419295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Sprechende deutsche Testnamen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– der Testbericht liest sich als Spezifikation der Fachlogik.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[Theory]</a:t>
            </a:r>
            <a:r>
              <a:rPr sz="1150" b="1" i="0">
                <a:solidFill>
                  <a:srgbClr val="0B0B0B"/>
                </a:solidFill>
                <a:latin typeface="Segoe UI"/>
              </a:rPr>
              <a:t> + </a:t>
            </a:r>
            <a:r>
              <a:rPr sz="1080" b="1" i="0">
                <a:solidFill>
                  <a:srgbClr val="0B0B0B"/>
                </a:solidFill>
                <a:latin typeface="Consolas"/>
              </a:rPr>
              <a:t>[InlineData]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: ein Test, viele Datensätze. Ein neuer Fall ist eine neue Zeile.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[MemberData]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prüft eine Regel gleichzeitig gegen alle vier Operationen – Validierung darf nirgends vergessen werden.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Toleranzvergleich bei </a:t>
            </a:r>
            <a:r>
              <a:rPr sz="1080" b="1" i="0">
                <a:solidFill>
                  <a:srgbClr val="0B0B0B"/>
                </a:solidFill>
                <a:latin typeface="Consolas"/>
              </a:rPr>
              <a:t>double</a:t>
            </a:r>
            <a:r>
              <a:rPr sz="1150" b="1" i="0">
                <a:solidFill>
                  <a:srgbClr val="0B0B0B"/>
                </a:solidFill>
                <a:latin typeface="Segoe UI"/>
              </a:rPr>
              <a:t>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0.1 + 0.2 == 0.3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ist in IEEE-754 falsch. Der Test prüft gegen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1e-10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4654296"/>
            <a:ext cx="4419295" cy="566928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42048" y="4864608"/>
            <a:ext cx="118872" cy="118872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6" y="4800600"/>
            <a:ext cx="3962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A30C"/>
                </a:solidFill>
                <a:latin typeface="Segoe UI"/>
              </a:rPr>
              <a:t>Bestanden</a:t>
            </a:r>
            <a:r>
              <a:rPr sz="1100" b="0" i="0">
                <a:solidFill>
                  <a:srgbClr val="52514E"/>
                </a:solidFill>
                <a:latin typeface="Segoe UI"/>
              </a:rPr>
              <a:t> — 33 von 33 Tests, 0 Fehler.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TESTAUTOMATISIERUNG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API-Tests: Playwright ohne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Testautomatisierung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91056"/>
            <a:ext cx="5227167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APIRequestContext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statt Browser: Playwright wird hier ausschließlich als HTTP-Client genutzt – schnell, stabil, kein Rendering.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Parallelisierung auf Fixture-Ebene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(NUnit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Parallelizable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); jede Fixture bekommt ihre eigene Playwright-Instanz. Möglich, weil die API zustandslos ist.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Konfigurierbare Basis-URL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über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API_BASE_URL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– lokal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localhost:5116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, in der CI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http://calculator-api:8080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im Docker-Netzwerk.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Entry-Kriterium im Code: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vor dem Lauf wird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GET /health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geprüft.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591056"/>
            <a:ext cx="5227167" cy="224028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174650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Rückverfolgbarkeit (Traceability)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2057400"/>
            <a:ext cx="4824831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Jeder automatisierte Test trägt seine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Testfall-ID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aus dem Testkonzept im Namen: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4175" y="2459736"/>
            <a:ext cx="4824831" cy="656539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7055" y="2596896"/>
            <a:ext cx="4513935" cy="38221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TC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ADD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-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01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add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+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2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=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3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TC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DIV0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-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01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divide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[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] →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3218688"/>
            <a:ext cx="48248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Damit ist die Kette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Konzept ↔ Code ↔ Report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lückenlos nachvollziehbar – in beide Richtungen.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4041648"/>
            <a:ext cx="5227167" cy="12344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4175" y="4197096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Beispiel eines Robustheits-Testfalls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5" y="4507992"/>
            <a:ext cx="482483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6" b="0" i="0">
                <a:solidFill>
                  <a:srgbClr val="0B0B0B"/>
                </a:solidFill>
                <a:latin typeface="Consolas"/>
              </a:rPr>
              <a:t>TC-CON-05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: Unbekannte Zusatzfelder im Body werden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toleriert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(200) – bewusste Entscheidung nach dem Robustheitsprinzip, nicht ein Versehen.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BETRIEB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Containerisierung: Multi-Stage-Build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Betrieb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9344"/>
            <a:ext cx="6035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Consolas"/>
              </a:rPr>
              <a:t>Dockerfile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6035040" cy="4096511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5724144" cy="38221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98781"/>
                </a:solidFill>
                <a:latin typeface="Consolas"/>
              </a:rPr>
              <a:t># Build-Stage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FROM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mcr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microsoft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com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dotnet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sdk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10.0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AS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build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COPY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…/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Calculator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Api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csproj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Calculator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Api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RUN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dotnet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restore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Calculator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Api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Calculator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Api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csproj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COPY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Calculator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Api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Calculator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Api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Calculator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Api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RUN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dotnet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publish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… 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Release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o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app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98781"/>
                </a:solidFill>
                <a:latin typeface="Consolas"/>
              </a:rPr>
              <a:t># Runtime-Stage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FROM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mcr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microsoft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.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com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dotnet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aspnet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10.0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AS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runtime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COPY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--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from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=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build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app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ENV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ASPNETCORE_HTTP_PORTS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=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8080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EXPOSE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8080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98781"/>
                </a:solidFill>
                <a:latin typeface="Consolas"/>
              </a:rPr>
              <a:t># Nicht als root laufen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USER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app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HEALTHCHECK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--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interval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=30s --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retries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=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3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\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B0B0B"/>
                </a:solidFill>
                <a:latin typeface="Consolas"/>
              </a:rPr>
              <a:t> 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CMD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curl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-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fsS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http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://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localhost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: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8080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/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health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|| </a:t>
            </a:r>
            <a:r>
              <a:rPr sz="950" b="0" i="0">
                <a:solidFill>
                  <a:srgbClr val="2A78D6"/>
                </a:solidFill>
                <a:latin typeface="Consolas"/>
              </a:rPr>
              <a:t>exit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</a:t>
            </a:r>
            <a:r>
              <a:rPr sz="950" b="0" i="0">
                <a:solidFill>
                  <a:srgbClr val="4A3AA7"/>
                </a:solidFill>
                <a:latin typeface="Consolas"/>
              </a:rPr>
              <a:t>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A78D6"/>
                </a:solidFill>
                <a:latin typeface="Consolas"/>
              </a:rPr>
              <a:t>ENTRYPOINT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 [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"dotnet"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, </a:t>
            </a:r>
            <a:r>
              <a:rPr sz="950" b="0" i="0">
                <a:solidFill>
                  <a:srgbClr val="1BAF7A"/>
                </a:solidFill>
                <a:latin typeface="Consolas"/>
              </a:rPr>
              <a:t>"Calculator.Api.dll"</a:t>
            </a:r>
            <a:r>
              <a:rPr sz="950" b="0" i="0">
                <a:solidFill>
                  <a:srgbClr val="0B0B0B"/>
                </a:solidFill>
                <a:latin typeface="Consolas"/>
              </a:rPr>
              <a:t>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47088"/>
            <a:ext cx="4419295" cy="4361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Zwei Stages.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Gebaut wird mit dem SDK-Image, ausgeliefert wird auf dem schlanken Runtime-Image – das SDK landet nicht im Ergebnis.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csproj</a:t>
            </a:r>
            <a:r>
              <a:rPr sz="1150" b="1" i="0">
                <a:solidFill>
                  <a:srgbClr val="0B0B0B"/>
                </a:solidFill>
                <a:latin typeface="Segoe UI"/>
              </a:rPr>
              <a:t> zuerst kopieren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, dann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restore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, dann der restliche Code: der Restore-Layer wird aus dem Docker-Cache bedient, solange sich die Abhängigkeiten nicht ändern.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USER app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– der Prozess läuft nicht als root. Kleine Zeile, große Wirkung für die Angriffsfläche.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5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HEALTHCHECK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macht den Zustand des Containers von außen sichtbar – dieselbe Probe, die auch CI und Tests verwenden.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Die Pipeline: von Push zu Testbericht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20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5227167" cy="548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28216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682496"/>
            <a:ext cx="4477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Unit-Tests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ausführen — schnelles Quality Gate, bricht früh 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49424"/>
            <a:ext cx="5227167" cy="548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" y="238658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340864"/>
            <a:ext cx="4477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Test-Repo auschecken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— Ref per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workflow_dispatch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wählbar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07791"/>
            <a:ext cx="5227167" cy="548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" y="3044951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999232"/>
            <a:ext cx="4477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Zwei Docker-Images bauen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— API und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5227167" cy="548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" y="3703320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657600"/>
            <a:ext cx="4477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API starten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im Docker-Netzwerk, auf </a:t>
            </a:r>
            <a:r>
              <a:rPr sz="986" b="0" i="0">
                <a:solidFill>
                  <a:srgbClr val="0B0B0B"/>
                </a:solidFill>
                <a:latin typeface="Consolas"/>
              </a:rPr>
              <a:t>/health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warten (max. 60 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24528"/>
            <a:ext cx="5227167" cy="548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" y="4361688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315968"/>
            <a:ext cx="4477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Tests im Container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gegen die laufende API ausführen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82896"/>
            <a:ext cx="5227167" cy="54864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" y="5020056"/>
            <a:ext cx="274320" cy="2743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974336"/>
            <a:ext cx="44773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0B0B"/>
                </a:solidFill>
                <a:latin typeface="Segoe UI"/>
              </a:rPr>
              <a:t>Ergebnisse veröffentlichen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— Artefakt, TRX-Check, Allure-Report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3007" y="1591056"/>
            <a:ext cx="5227167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Trigger: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Push und Pull Request auf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main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, zusätzlich manuell.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080" b="1" i="0">
                <a:solidFill>
                  <a:srgbClr val="0B0B0B"/>
                </a:solidFill>
                <a:latin typeface="Consolas"/>
              </a:rPr>
              <a:t>continue-on-error</a:t>
            </a:r>
            <a:r>
              <a:rPr sz="1150" b="1" i="0">
                <a:solidFill>
                  <a:srgbClr val="0B0B0B"/>
                </a:solidFill>
                <a:latin typeface="Segoe UI"/>
              </a:rPr>
              <a:t> mit Absicht.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Der Test-Schritt bricht nicht sofort ab – so werden Report und Artefakte auch bei roten Tests erzeugt. Am Ende schlägt der Workflow dann explizit fehl.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Diagnose eingebaut: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bei Testfehlern werden automatisch die </a:t>
            </a:r>
            <a:r>
              <a:rPr sz="1080" b="0" i="0">
                <a:solidFill>
                  <a:srgbClr val="0B0B0B"/>
                </a:solidFill>
                <a:latin typeface="Consolas"/>
              </a:rPr>
              <a:t>docker logs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der API ausgegeben.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600"/>
              </a:spcAft>
              <a:buClr>
                <a:srgbClr val="2A78D6"/>
              </a:buClr>
              <a:buFont typeface="Arial"/>
              <a:buChar char="▪"/>
            </a:pPr>
            <a:r>
              <a:rPr sz="1150" b="1" i="0">
                <a:solidFill>
                  <a:srgbClr val="0B0B0B"/>
                </a:solidFill>
                <a:latin typeface="Segoe UI"/>
              </a:rPr>
              <a:t>PR-Gate: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Ein Pull Request kann nur gemerged werden, wenn die Pipeline grün ist. Für PRs wird bewusst nicht auf GitHub Pages veröffentlicht.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Reporting: Ergebnisse, die man ansehen kann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21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3429914" cy="178308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Allure-Report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3027578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Visueller Bericht mit Testfall-IDs, Severity und Fehlerdetails – veröffentlicht auf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GitHub Pages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, versioniert pro Lauf-Nummer.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0890" y="1591056"/>
            <a:ext cx="3429914" cy="178308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Historie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2057400"/>
            <a:ext cx="3027578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Die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letzten 20 Läufe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bleiben erhalten. Trends und instabile Tests werden dadurch über die Zeit sichtbar, nicht nur der aktuelle Stand.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0260" y="1591056"/>
            <a:ext cx="3429914" cy="178308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142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TRX-Check &amp; Artefakt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1428" y="2057400"/>
            <a:ext cx="3027578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Ergebnisse erscheinen als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Check direkt am Commit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; die Rohdaten liegen 14 Tage als Workflow-Artefakt bereit.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02736"/>
            <a:ext cx="10728655" cy="141732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03904"/>
            <a:ext cx="1021659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Live abrufbar: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114800"/>
            <a:ext cx="102165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A78D6"/>
                </a:solidFill>
                <a:latin typeface="Consolas"/>
              </a:rPr>
              <a:t>https://sascha-pommernell.github.io/calculator-api/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498848"/>
            <a:ext cx="102165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Der Link zum jeweiligen Lauf steht zusätzlich in der Zusammenfassung des Actions-Laufs – niemand muss nach dem Bericht suchen.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ERFAHRUNGEN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Herausforderungen &amp; Lösungen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Erfahrungen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22 / 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591056"/>
          <a:ext cx="10728654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7742"/>
                <a:gridCol w="7080912"/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PROBLEM</a:t>
                      </a:r>
                    </a:p>
                  </a:txBody>
                  <a:tcPr marL="0" marR="164592" marT="18288" marB="9144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898781"/>
                          </a:solidFill>
                          <a:latin typeface="Segoe UI"/>
                        </a:rPr>
                        <a:t>LÖSUNG</a:t>
                      </a:r>
                    </a:p>
                  </a:txBody>
                  <a:tcPr marL="0" marR="164592" marT="18288" marB="91440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Überlauf lieferte </a:t>
                      </a:r>
                      <a:r>
                        <a:rPr sz="1034" b="1" i="0">
                          <a:solidFill>
                            <a:srgbClr val="0B0B0B"/>
                          </a:solidFill>
                          <a:latin typeface="Consolas"/>
                        </a:rPr>
                        <a:t>Infinity</a:t>
                      </a: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 statt eines Fehlers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Zwei Testfälle (TC-FLT-02/03) schlugen fehl und deckten einen echten Defect auf. Ergebnis: die 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double.IsFinite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-Prüfung im Service – </a:t>
                      </a: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der Test hat das Design verbessert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Testergebnisse aus dem Container nicht lesbar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Der Container schrieb als root in das gemountete Volume; der Runner konnte die Dateien nicht weiterverarbeiten. Gelöst durch expliziten 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chown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-Schritt nach dem Testlauf.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Allure-Action lieferte keinen Report mehr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Statt einer fremden Action wird die </a:t>
                      </a: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Allure CLI in fixierter Version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 installiert und der Report direkt generiert – weniger Abhängigkeiten, reproduzierbar.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Erster Lauf brach ab: </a:t>
                      </a:r>
                      <a:r>
                        <a:rPr sz="1034" b="1" i="0">
                          <a:solidFill>
                            <a:srgbClr val="0B0B0B"/>
                          </a:solidFill>
                          <a:latin typeface="Consolas"/>
                        </a:rPr>
                        <a:t>gh-pages</a:t>
                      </a: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 existierte nicht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Der Workflow prüft jetzt per 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git ls-remote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, ob der Branch existiert, und überspringt das Laden der Historie beim ersten Lauf.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Pipeline war grün, obwohl keine Tests liefen</a:t>
                      </a:r>
                    </a:p>
                  </a:txBody>
                  <a:tcPr marL="0" marR="164592" marT="73152" marB="73152" anchor="t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Bei nicht erreichbarer API wurde übersprungen statt gemeldet. Jetzt: </a:t>
                      </a:r>
                      <a:r>
                        <a:rPr sz="1034" b="0" i="0">
                          <a:solidFill>
                            <a:srgbClr val="0B0B0B"/>
                          </a:solidFill>
                          <a:latin typeface="Consolas"/>
                        </a:rPr>
                        <a:t>CI=true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 erzwingt harten Fehlschlag – </a:t>
                      </a:r>
                      <a:r>
                        <a:rPr sz="1100" b="1" i="0">
                          <a:solidFill>
                            <a:srgbClr val="0B0B0B"/>
                          </a:solidFill>
                          <a:latin typeface="Segoe UI"/>
                        </a:rPr>
                        <a:t>ein grüner Haken muss etwas bedeuten</a:t>
                      </a:r>
                      <a:r>
                        <a:rPr sz="1100" b="0" i="0">
                          <a:solidFill>
                            <a:srgbClr val="52514E"/>
                          </a:solidFill>
                          <a:latin typeface="Segoe UI"/>
                        </a:rPr>
                        <a:t>.</a:t>
                      </a:r>
                    </a:p>
                  </a:txBody>
                  <a:tcPr marL="0" marR="164592" marT="73152" marB="73152" anchor="t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Was das Projekt zeigt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Fazit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23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91056"/>
            <a:ext cx="5227167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800"/>
              </a:spcAft>
              <a:buClr>
                <a:srgbClr val="2A78D6"/>
              </a:buClr>
              <a:buFont typeface="Arial"/>
              <a:buChar char="▪"/>
            </a:pPr>
            <a:r>
              <a:rPr sz="1200" b="1" i="0">
                <a:solidFill>
                  <a:srgbClr val="0B0B0B"/>
                </a:solidFill>
                <a:latin typeface="Segoe UI"/>
              </a:rPr>
              <a:t>Saubere Architektur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— Trennung von HTTP-Schicht, Fachlogik und Fehlerbehandlung; Abhängigkeiten über Interfaces.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800"/>
              </a:spcAft>
              <a:buClr>
                <a:srgbClr val="2A78D6"/>
              </a:buClr>
              <a:buFont typeface="Arial"/>
              <a:buChar char="▪"/>
            </a:pPr>
            <a:r>
              <a:rPr sz="1200" b="1" i="0">
                <a:solidFill>
                  <a:srgbClr val="0B0B0B"/>
                </a:solidFill>
                <a:latin typeface="Segoe UI"/>
              </a:rPr>
              <a:t>Der Vertrag steht im Mittelpunkt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— einheitliche ProblemDetails, OpenAPI, geprüft durch Vertragstests.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800"/>
              </a:spcAft>
              <a:buClr>
                <a:srgbClr val="2A78D6"/>
              </a:buClr>
              <a:buFont typeface="Arial"/>
              <a:buChar char="▪"/>
            </a:pPr>
            <a:r>
              <a:rPr sz="1200" b="1" i="0">
                <a:solidFill>
                  <a:srgbClr val="0B0B0B"/>
                </a:solidFill>
                <a:latin typeface="Segoe UI"/>
              </a:rPr>
              <a:t>Systematischer Testentwurf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— Äquivalenzklassen, Grenzwerte, Priorisierung nach Risiko; keine zufällig entstandenen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1591056"/>
            <a:ext cx="5227167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800"/>
              </a:spcAft>
              <a:buClr>
                <a:srgbClr val="2A78D6"/>
              </a:buClr>
              <a:buFont typeface="Arial"/>
              <a:buChar char="▪"/>
            </a:pPr>
            <a:r>
              <a:rPr sz="1200" b="1" i="0">
                <a:solidFill>
                  <a:srgbClr val="0B0B0B"/>
                </a:solidFill>
                <a:latin typeface="Segoe UI"/>
              </a:rPr>
              <a:t>Zwei Testebenen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— schnelle Unit-Tests als Gate, Black-Box-API-Tests gegen das echte Artefakt.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800"/>
              </a:spcAft>
              <a:buClr>
                <a:srgbClr val="2A78D6"/>
              </a:buClr>
              <a:buFont typeface="Arial"/>
              <a:buChar char="▪"/>
            </a:pPr>
            <a:r>
              <a:rPr sz="1200" b="1" i="0">
                <a:solidFill>
                  <a:srgbClr val="0B0B0B"/>
                </a:solidFill>
                <a:latin typeface="Segoe UI"/>
              </a:rPr>
              <a:t>Durchgängige Automatisierung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— Build, Container, Test und Veröffentlichung bei jedem Push, ohne Handarbeit.</a:t>
            </a:r>
          </a:p>
          <a:p>
            <a:pPr algn="l" marL="237744" indent="-237744">
              <a:lnSpc>
                <a:spcPct val="126000"/>
              </a:lnSpc>
              <a:spcBef>
                <a:spcPts val="0"/>
              </a:spcBef>
              <a:spcAft>
                <a:spcPts val="1800"/>
              </a:spcAft>
              <a:buClr>
                <a:srgbClr val="2A78D6"/>
              </a:buClr>
              <a:buFont typeface="Arial"/>
              <a:buChar char="▪"/>
            </a:pPr>
            <a:r>
              <a:rPr sz="1200" b="1" i="0">
                <a:solidFill>
                  <a:srgbClr val="0B0B0B"/>
                </a:solidFill>
                <a:latin typeface="Segoe UI"/>
              </a:rPr>
              <a:t>Nachvollziehbarkeit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 — jede Zeile im Testbericht ist bis zum Testkonzept zurückverfolgbar.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197096"/>
            <a:ext cx="5227167" cy="1051560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4175" y="4352544"/>
            <a:ext cx="4824831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Kernaussage: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Nicht die Rechenlogik ist das Ergebnis – sondern der belegbare, wiederholbare Weg von der Anforderung zum getesteten, ausgelieferten Artefakt.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548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Segoe UI"/>
              </a:rPr>
              <a:t>AUSBLICK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Segoe UI"/>
              </a:rPr>
              <a:t>Nächste sinnvolle Schritte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35024"/>
            <a:ext cx="50292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345936"/>
            <a:ext cx="10728655" cy="1005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643719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Ausblick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8713" y="6437376"/>
            <a:ext cx="429146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24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91056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Authentifizierung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Bewusst nicht im Scope. Mit API-Keys oder JWT käme eine ganze Testklasse hinzu: 401/403-Fälle, Token-Ablauf, Rollen.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0890" y="1591056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Last- und Performancetests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2057400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Das Rate Limit ist implementiert, aber nicht unter Last verifiziert. Ein k6- oder NBomber-Lauf in der Pipeline würde das messen.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0260" y="1591056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1428" y="1746504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Code-Coverage-Gate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1428" y="2057400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Coverage messen und als Schwellwert in der Pipeline erzwingen, damit neue Logik nicht ungetestet einzieht.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75887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831335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Weitere Operationen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142231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Potenz, Modulo, Wurzel – jeweils nach derselben Regel: Testfälle (Happy Path + Negativ) </a:t>
            </a:r>
            <a:r>
              <a:rPr sz="1050" b="1" i="0">
                <a:solidFill>
                  <a:srgbClr val="0B0B0B"/>
                </a:solidFill>
                <a:latin typeface="Segoe UI"/>
              </a:rPr>
              <a:t>vor</a:t>
            </a:r>
            <a:r>
              <a:rPr sz="1050" b="0" i="0">
                <a:solidFill>
                  <a:srgbClr val="52514E"/>
                </a:solidFill>
                <a:latin typeface="Segoe UI"/>
              </a:rPr>
              <a:t> dem Merge.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0890" y="3675887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2058" y="3831335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Vertragstests gegen OpenAPI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2058" y="4142231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Responses automatisch gegen das OpenAPI-Schema validieren, statt Felder einzeln zu prüfen.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0260" y="3675887"/>
            <a:ext cx="3429914" cy="1874519"/>
          </a:xfrm>
          <a:prstGeom prst="roundRect">
            <a:avLst>
              <a:gd name="adj" fmla="val 6000"/>
            </a:avLst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1428" y="3831335"/>
            <a:ext cx="30275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Strukturiertes Logging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1428" y="4142231"/>
            <a:ext cx="3027578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Korrelations-IDs und strukturierte Logs, um Requests in einem Produktionsbetrieb nachverfolgen zu können.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9144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B0B0B"/>
                </a:solidFill>
                <a:latin typeface="Segoe UI"/>
              </a:rPr>
              <a:t>Vielen Dank.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Fragen? Gerne auch direkt an der laufenden API und am Allure-Report.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78D6"/>
                </a:solidFill>
                <a:latin typeface="Consolas"/>
              </a:rPr>
              <a:t>github.com/Sascha-Pommernell/calculator-api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A78D6"/>
                </a:solidFill>
                <a:latin typeface="Consolas"/>
              </a:rPr>
              <a:t>sascha-pommernell.github.io/calculator-api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